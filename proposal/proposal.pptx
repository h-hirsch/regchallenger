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184"/>
  </p:normalViewPr>
  <p:slideViewPr>
    <p:cSldViewPr snapToGrid="0">
      <p:cViewPr>
        <p:scale>
          <a:sx n="107" d="100"/>
          <a:sy n="107" d="100"/>
        </p:scale>
        <p:origin x="76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A4D54-B89E-AC4B-B58C-8C1B40B7A0C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9A6A4-12AE-CF48-A449-4211A8D6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0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9A6A4-12AE-CF48-A449-4211A8D6DE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17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9A6A4-12AE-CF48-A449-4211A8D6DE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14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4A14-7D2F-7170-87EE-5A75D93CF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E846D-420D-C2E8-DD09-146A65162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65A96-C77C-8737-903B-8DA362472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6EB98-F299-D2D8-D61D-89EC05D8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2DADB-B0C8-5B68-2B71-B220BFDB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BEDD-160B-6F27-7296-ADB5A01D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6A84F-1E91-9100-802F-2F1809D31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CCB21-4608-DBF7-B65F-B1874C46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BBA54-F8D8-83CF-1E0E-EFEDD3E5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45D83-5679-D4D6-00B4-E961F89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5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D7E8-9360-E65E-90E2-600506855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681AF-FF66-8C23-BEA7-D2844459C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08272-95E9-1EBF-1AD6-8E2C2D80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8D6F5-E8D5-4804-CB97-1B216C36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D3BC1-2F34-57FB-4F56-C25ABB8A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93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1A21-5ECC-F9D8-9484-A5077B21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4773B-8F89-7B6B-1464-7827EA94A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56E55-DB20-6210-12A4-B16BD1BA3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6DDD0-3D44-DE6F-A0EF-3F36EDCDA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FBF7E-763E-5592-3297-745A52844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03FF0-2614-3B0B-8212-CFEB3613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7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3020-F4FD-00DD-F885-E2843779F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7A183-0437-B3CC-C528-17398BB7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4146C-C5EB-EA3B-D63F-705E4303E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42770-0316-7AC5-E338-4A0C9FFF8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F53DA-F081-FECA-A511-F58E04715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1293E-A3B7-46EA-626B-5C1FD344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3E0BE2-A4CE-212C-0FCF-04224A43C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62A08-19AC-F896-80A9-6C1362D8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96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FA30B-63D3-96B0-A621-552596570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D1C7E7-327D-B61B-0947-8AAB3183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86897-3A7B-25C4-6002-1ADDF8F8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2D286-1D45-C8BA-8456-0F443A5F5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9D120-F69B-7093-7736-0E6DD7A76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0C9E85-23AE-C9D8-BCC6-7728D63C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C36A2-CEB5-305C-6489-96C23FD5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15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7EE3-C418-F9B5-4FC0-ABC23EFD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386B4-6AC5-6D52-3209-A2A4352CE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CD6A4-072F-0CBE-9880-D20F73C2A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C54C3-637F-B1B1-3A72-92AD9041E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7C5F2-48A1-C969-07D4-BF8006EC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E89A8-867E-3B41-D4A9-B72E5FBA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3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A2AD-D3B9-862C-D733-F86F66397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301FC4-EBEE-C533-D74F-C5D5E7A7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33C30-BBB9-661C-9039-C69940A80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BA545-C3E0-76A4-5390-09A612B62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A0E78-A5C9-C878-4854-9C6137E8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42455-E3D4-7242-D9FE-4C8821C9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0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35C69-EE54-58FF-E20C-D609C0116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AA5CF-4E9E-DD03-170D-B863AF421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2DBA4-C26D-77C8-1C7D-134502577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935C4-2F42-F88E-FD31-76E967D83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01526-6782-A199-4CFA-F66657F8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1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E8A5F-6BDE-1084-00C4-C2132EBDD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02364-A0F0-84BE-77D2-187C56F9D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F066F-A534-13D6-09FC-312623AD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E23A2-7F7B-B14A-E0DB-1915904B5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5B7D0-C971-81C1-0578-0BA20E4A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79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2479B-1E92-B77B-59B6-00AE1936F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A0701-F191-3E63-5D3A-83E7AD845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48416-8C14-22A7-C366-7472BB48B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4C3E4-1080-794E-AEE7-5A35AC9F8AB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0BE8F-B53F-F3F9-152E-AB59E8079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73B0A-8CA0-9B68-8583-A2054310F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EC9D4-E8CE-4340-8C60-53D933CE4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3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ederalregister.gov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jc.gov/research/idb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rtlistener.com/help/api/bulk-data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ederalregister.gov/developers/documentation/api/v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666C-8EE4-DC57-FBBC-6023AFF31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Predicting Litigation Outcomes of Challenges to Federal Regulations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5C885-33EC-6DCF-9B28-7B19E00E91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Henry Hirsch</a:t>
            </a:r>
          </a:p>
        </p:txBody>
      </p:sp>
    </p:spTree>
    <p:extLst>
      <p:ext uri="{BB962C8B-B14F-4D97-AF65-F5344CB8AC3E}">
        <p14:creationId xmlns:p14="http://schemas.microsoft.com/office/powerpoint/2010/main" val="18160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64042-46DF-485A-1EAF-707D7DE39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A28BE-212A-90D3-FB98-4A3A49414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Agencies regulate nearly every sector of the economy and most aspects of Americans’ daily lives. For example:</a:t>
            </a:r>
          </a:p>
          <a:p>
            <a:pPr lvl="1"/>
            <a:r>
              <a:rPr lang="en-US" dirty="0"/>
              <a:t>EPA: air, water, emissions </a:t>
            </a:r>
          </a:p>
          <a:p>
            <a:pPr lvl="1"/>
            <a:r>
              <a:rPr lang="en-US" dirty="0"/>
              <a:t>FDA: food, drugs, medical devices </a:t>
            </a:r>
          </a:p>
          <a:p>
            <a:pPr lvl="1"/>
            <a:r>
              <a:rPr lang="en-US" dirty="0"/>
              <a:t>DOL: workplace safety, wages </a:t>
            </a:r>
          </a:p>
          <a:p>
            <a:pPr lvl="1"/>
            <a:r>
              <a:rPr lang="en-US" dirty="0"/>
              <a:t>USDA: food safety, agriculture </a:t>
            </a:r>
          </a:p>
          <a:p>
            <a:pPr lvl="1"/>
            <a:r>
              <a:rPr lang="en-US" dirty="0"/>
              <a:t>HUD: housing, mortgages </a:t>
            </a:r>
          </a:p>
          <a:p>
            <a:pPr lvl="1"/>
            <a:r>
              <a:rPr lang="en-US" dirty="0"/>
              <a:t>DHS: immigration, security </a:t>
            </a:r>
          </a:p>
          <a:p>
            <a:pPr lvl="1"/>
            <a:r>
              <a:rPr lang="en-US" dirty="0"/>
              <a:t>DOE: energy, nuclear safety </a:t>
            </a:r>
          </a:p>
          <a:p>
            <a:pPr lvl="1"/>
            <a:r>
              <a:rPr lang="en-US" dirty="0"/>
              <a:t>DOJ: antitrust, civil rights</a:t>
            </a:r>
          </a:p>
          <a:p>
            <a:r>
              <a:rPr lang="en-US" dirty="0"/>
              <a:t>Agencies issue ~3,000-4,000 rules per year in the </a:t>
            </a:r>
            <a:r>
              <a:rPr lang="en-US" dirty="0">
                <a:hlinkClick r:id="rId2"/>
              </a:rPr>
              <a:t>Federal Register</a:t>
            </a:r>
            <a:r>
              <a:rPr lang="en-US" dirty="0"/>
              <a:t>, the daily journal of the U.S. govt. </a:t>
            </a:r>
          </a:p>
          <a:p>
            <a:r>
              <a:rPr lang="en-US" dirty="0"/>
              <a:t>Many rules are challenged in federal courts by regulated entities.</a:t>
            </a:r>
          </a:p>
          <a:p>
            <a:pPr lvl="1"/>
            <a:r>
              <a:rPr lang="en-US" dirty="0"/>
              <a:t>These challenges tend to occur in federal courts due to the Administrative Procedure Act, which grants U.S. federal courts oversight over all agency actions.</a:t>
            </a:r>
          </a:p>
          <a:p>
            <a:r>
              <a:rPr lang="en-US" dirty="0"/>
              <a:t> No systematic way to: </a:t>
            </a:r>
          </a:p>
          <a:p>
            <a:pPr lvl="1"/>
            <a:r>
              <a:rPr lang="en-US" dirty="0"/>
              <a:t>Predict which regulations will be overturned</a:t>
            </a:r>
          </a:p>
          <a:p>
            <a:pPr lvl="1"/>
            <a:r>
              <a:rPr lang="en-US" dirty="0"/>
              <a:t>Understand what makes a regulation legally vulnerable </a:t>
            </a:r>
          </a:p>
          <a:p>
            <a:pPr lvl="1"/>
            <a:r>
              <a:rPr lang="en-US" dirty="0"/>
              <a:t>Link regulations to their litigation outcomes</a:t>
            </a:r>
          </a:p>
        </p:txBody>
      </p:sp>
    </p:spTree>
    <p:extLst>
      <p:ext uri="{BB962C8B-B14F-4D97-AF65-F5344CB8AC3E}">
        <p14:creationId xmlns:p14="http://schemas.microsoft.com/office/powerpoint/2010/main" val="156695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E521-472E-4AFF-7091-C18A5E8F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B0CBE-74C9-FA96-BAA0-E78156DBF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Litigation is a </a:t>
            </a:r>
            <a:r>
              <a:rPr lang="en-US" b="1" dirty="0"/>
              <a:t>time-consuming</a:t>
            </a:r>
            <a:r>
              <a:rPr lang="en-US" dirty="0"/>
              <a:t> and </a:t>
            </a:r>
            <a:r>
              <a:rPr lang="en-US" b="1" dirty="0"/>
              <a:t>expensive</a:t>
            </a:r>
            <a:r>
              <a:rPr lang="en-US" dirty="0"/>
              <a:t> process for both agencies and the regulated entities challenging their rules in court.</a:t>
            </a:r>
          </a:p>
          <a:p>
            <a:r>
              <a:rPr lang="en-US" dirty="0"/>
              <a:t>Therefore, agencies attempt to assess litigation risk during rulemaking.</a:t>
            </a:r>
          </a:p>
          <a:p>
            <a:r>
              <a:rPr lang="en-US" dirty="0"/>
              <a:t>And regulated entities only challenge rules in court if they believe they are likely to win.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884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094C-3B09-E98E-A5C1-A30CA368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09104-F0B2-AAF8-8FD5-3A42F203D4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Predict whether a regulation will be overturned in court by analyzing the regulation’s text and characteristics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which circuit court is most favorable for challenging the regulation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Rank the most similar regulations that were successfully challenged with the corresponding court opinion text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6390E1-29FD-1C90-FFAC-9AD902CC03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200" y="2324239"/>
            <a:ext cx="5181600" cy="3354110"/>
          </a:xfrm>
        </p:spPr>
      </p:pic>
    </p:spTree>
    <p:extLst>
      <p:ext uri="{BB962C8B-B14F-4D97-AF65-F5344CB8AC3E}">
        <p14:creationId xmlns:p14="http://schemas.microsoft.com/office/powerpoint/2010/main" val="342559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669E41-F1D7-12CD-6486-29FFA6AF6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(source 1)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15350B-1060-895D-8AEC-12C4A9740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Federal Judicial Center </a:t>
            </a:r>
            <a:r>
              <a:rPr lang="en-US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Integrated Database</a:t>
            </a:r>
            <a:r>
              <a:rPr lang="en-US" dirty="0">
                <a:solidFill>
                  <a:srgbClr val="467886"/>
                </a:solidFill>
              </a:rPr>
              <a:t> </a:t>
            </a:r>
            <a:r>
              <a:rPr lang="en-US" dirty="0"/>
              <a:t>(IDB)</a:t>
            </a:r>
          </a:p>
          <a:p>
            <a:pPr lvl="1"/>
            <a:r>
              <a:rPr lang="en-US" dirty="0"/>
              <a:t>44,462 regulatory cases from federal courts (1988-2025), can go back further to 1971</a:t>
            </a:r>
          </a:p>
          <a:p>
            <a:pPr lvl="1"/>
            <a:r>
              <a:rPr lang="en-US" dirty="0"/>
              <a:t>Case metadata: docket number, court circuit, judge, filing/termination dates, disposition</a:t>
            </a:r>
          </a:p>
          <a:p>
            <a:pPr lvl="1"/>
            <a:r>
              <a:rPr lang="en-US" dirty="0"/>
              <a:t>Filtered for: administrative review cases + regulatory NOS codes (890, 893, 899)</a:t>
            </a:r>
          </a:p>
          <a:p>
            <a:pPr lvl="1"/>
            <a:r>
              <a:rPr lang="en-US" dirty="0"/>
              <a:t>Disposition: Was regulation upheld or overturned? This is the target.</a:t>
            </a:r>
          </a:p>
          <a:p>
            <a:pPr marL="971550" lvl="1" indent="-514350">
              <a:buFont typeface="+mj-lt"/>
              <a:buAutoNum type="alphaL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29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89955-E312-FE8F-44BB-0B0DE48B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(source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AAAE0-B509-CEB9-B135-B4E4978AD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CourtListener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Free Law Project Bulk Legal Data</a:t>
            </a:r>
            <a:r>
              <a:rPr lang="en-US" dirty="0"/>
              <a:t>) (CL)</a:t>
            </a:r>
          </a:p>
          <a:p>
            <a:pPr lvl="1"/>
            <a:r>
              <a:rPr lang="en-US" dirty="0"/>
              <a:t>Bulk data: ~10M+ court opinions (53GB compressed) </a:t>
            </a:r>
          </a:p>
          <a:p>
            <a:pPr lvl="1"/>
            <a:r>
              <a:rPr lang="en-US" dirty="0"/>
              <a:t>Also contains case docket numbers, so can link opinion text to the IDB filtered cases</a:t>
            </a:r>
          </a:p>
          <a:p>
            <a:pPr lvl="1"/>
            <a:r>
              <a:rPr lang="en-US" dirty="0"/>
              <a:t>Can extract Federal Register rule citations from the opinion text</a:t>
            </a:r>
          </a:p>
          <a:p>
            <a:pPr lvl="2"/>
            <a:r>
              <a:rPr lang="en-US" dirty="0"/>
              <a:t>For example: "Petitioners challenge EPA's rule promulgating emissions standards, </a:t>
            </a:r>
            <a:r>
              <a:rPr lang="en-US" b="1" dirty="0"/>
              <a:t>85 FR 64510</a:t>
            </a:r>
            <a:r>
              <a:rPr lang="en-US" dirty="0"/>
              <a:t>, arguing it exceeds statutory authority."</a:t>
            </a:r>
          </a:p>
          <a:p>
            <a:pPr lvl="1"/>
            <a:r>
              <a:rPr lang="en-US" dirty="0"/>
              <a:t>Full opinion text for ~15,000-20,000 matched cases </a:t>
            </a:r>
          </a:p>
        </p:txBody>
      </p:sp>
    </p:spTree>
    <p:extLst>
      <p:ext uri="{BB962C8B-B14F-4D97-AF65-F5344CB8AC3E}">
        <p14:creationId xmlns:p14="http://schemas.microsoft.com/office/powerpoint/2010/main" val="2974575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DE7C-1A0C-7168-FC24-8376E970E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(source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44A62-C4DD-7532-8C99-112A0992D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Federal Register API</a:t>
            </a:r>
            <a:endParaRPr lang="en-US" dirty="0"/>
          </a:p>
          <a:p>
            <a:pPr lvl="1"/>
            <a:r>
              <a:rPr lang="en-US" dirty="0"/>
              <a:t>Take FR citations extracted from opinion texts and input into FR API to find the text of the corresponding rules (that those cases were challenging)</a:t>
            </a:r>
          </a:p>
          <a:p>
            <a:pPr lvl="1"/>
            <a:r>
              <a:rPr lang="en-US" dirty="0"/>
              <a:t>Also has metadata for cited rules: agency, CFR sections, rule type, date published (under which administration), etc.</a:t>
            </a:r>
          </a:p>
          <a:p>
            <a:pPr lvl="1"/>
            <a:r>
              <a:rPr lang="en-US" dirty="0"/>
              <a:t>Can use NLP techniques to extract prediction features from this text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405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500</Words>
  <Application>Microsoft Macintosh PowerPoint</Application>
  <PresentationFormat>Widescreen</PresentationFormat>
  <Paragraphs>48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Predicting Litigation Outcomes of Challenges to Federal Regulations</vt:lpstr>
      <vt:lpstr>Problem (part 1)</vt:lpstr>
      <vt:lpstr>Problem (part 2)</vt:lpstr>
      <vt:lpstr>Goals</vt:lpstr>
      <vt:lpstr>Data (source 1)</vt:lpstr>
      <vt:lpstr>Data (source 2)</vt:lpstr>
      <vt:lpstr>Data (source 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Hirsch</dc:creator>
  <cp:lastModifiedBy>Henry Hirsch</cp:lastModifiedBy>
  <cp:revision>9</cp:revision>
  <dcterms:created xsi:type="dcterms:W3CDTF">2026-01-27T16:52:01Z</dcterms:created>
  <dcterms:modified xsi:type="dcterms:W3CDTF">2026-01-28T04:30:01Z</dcterms:modified>
</cp:coreProperties>
</file>